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96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CRÉDIT</a:t>
            </a:r>
            <a:endParaRPr lang="en-US" sz="3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CLIENTS BANCAIRES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Mining — ESISA 4ème année ISIIA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Classification, Interprétabilité et Aide à la Décision Bancaire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83190" y="3520440"/>
            <a:ext cx="2743200" cy="0"/>
          </a:xfrm>
          <a:prstGeom prst="line">
            <a:avLst/>
          </a:prstGeom>
          <a:noFill/>
          <a:ln w="38100">
            <a:solidFill>
              <a:srgbClr val="F18F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Réalisé par :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BOUTAYEB Marouane  &amp;  Ahmed DIOURI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         </a:t>
            </a:r>
            <a:r>
              <a:rPr lang="en-US" sz="1300" dirty="0" err="1">
                <a:solidFill>
                  <a:srgbClr val="9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</a:t>
            </a:r>
            <a:r>
              <a:rPr lang="en-US" sz="1300" dirty="0">
                <a:solidFill>
                  <a:srgbClr val="9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 :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Pr. Mohamed EL FAR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2025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Contexte, problématique et objectifs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21615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et qualité des données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472184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72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4721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exploratoire (EDA)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728216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7282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Boxplots et corrélations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1984248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19842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Prétraitement et feature engineering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240280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2402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WoE / Information Value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49631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24963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comparative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752344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27523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Matrices de confusion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008376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30083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Courbes ROC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264408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2644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 KS et Lift/Gain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520440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35204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— Théorie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377647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" y="37764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— Résultats et interprétation métier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032504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4400" y="40325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PDO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4288536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" y="42885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et politique de décision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544568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14400" y="45445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problématique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prédire le risque de défaut de paiement et le traduire en outil de décision bancaire 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dossiers de crédit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9202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6032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financières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défaut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19202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algorithmes comparés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Explorer les profils à risque (EDA + WoE/IV)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Entraîner 4 modèles avec SMOTE + StratifiedKFold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Évaluer : AUC-ROC, KS, Lift/Gain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Interpréter via SHAP values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Construire une scorecard PDO opérationnelle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des données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33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07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21-70 ans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9601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033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revenu_mensuel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307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2.5K-45K DH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33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dettes_totales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307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15-200K DH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96012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33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anciennete_emploi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12280" y="1307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0-35 ans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173736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incidents_paiement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173736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97480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montant_credit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10K-500K DH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73736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810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ratio_endettement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0848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0-6.22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65176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DEDE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26974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DATA LEAKAGE : credit_accorde exclu (corrélation = -1.0 avec la cible) + client_id supprimé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337560"/>
            <a:ext cx="6400800" cy="1645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71600" y="4983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de la variable cible (7.4% défaut vs 92.6% non-défaut)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Statistiques descriptives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Moyenne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Écart-type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Médiane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45.76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14.41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revenu_mensuel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23 678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12 141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2 501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23 770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44 993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dettes_totales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99 376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57 269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99 320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199 887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incidents_paiement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2.02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0.667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montant_credit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255 783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141 279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10 282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258 176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499 979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0.552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73E1D"/>
                          </a:solidFill>
                        </a:rPr>
                        <a:t>ratio_endettement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0.565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73E1D"/>
                          </a:solidFill>
                        </a:rPr>
                        <a:t>6.22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73E1D"/>
                          </a:solidFill>
                        </a:rPr>
                        <a:t>1.236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clés :</a:t>
            </a:r>
            <a:endParaRPr lang="en-US" sz="1300" dirty="0"/>
          </a:p>
        </p:txBody>
      </p:sp>
      <p:sp>
        <p:nvSpPr>
          <p:cNvPr id="4" name="Text 3"/>
          <p:cNvSpPr/>
          <p:nvPr/>
        </p:nvSpPr>
        <p:spPr>
          <a:xfrm>
            <a:off x="731520" y="32918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ratio_endettement : CV=1.236 → variable la plus dispersée et la plus prédictive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revenu_mensuel : écart Q1-Q3 de 20 891 DH → clientèle très hétérogène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Âge médian 46 ans, distribution quasi-uniforme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incidents_paiement : moyenne 3/6 → historique globalement dégradé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Distributions des variables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82296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Histogrammes des 7 variables explicatives avec moyenne (rouge) et médiane (vert)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Boxplots par classe et corrélations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4572000" cy="20116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60120"/>
            <a:ext cx="3840480" cy="2011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Boxplots par classe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02920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Corrélation avec la cible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291840"/>
            <a:ext cx="4572000" cy="1737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8600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de corrélation de Pearson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Prétraitement et Feature Engineering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des données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Suppression credit_accorde (leakage r=-1.0)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Suppression client_id (identifiant)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0 valeurs manquantes, 0 doublons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(méthode IQR)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ratio_endettement : 250 outliers (8.33%)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: Winsorization (capping)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Bornes = [Q1 - 1.5×IQR ; Q3 + 1.5×IQR]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96012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ratios financiers créés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ratio_dette_revenu
  = dettes / (revenu × 12)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ratio_credit_revenu
  = crédit / (revenu × 12)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ratio_credit_anciennete
  = crédit / (ancienneté + 1)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score_stabilite
  = (anc/max) × (rev/max)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charge_financiere = dettes + crédit
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incidents_eleves = 1 si inc. ≥ 4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of Evidence (WoE) et Information Value (IV)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Formules mathématiques :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WoE_i = ln( P(bin_i|non-déf) / P(bin_i|déf) )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= Σ [P(bin_i|non-déf) - P(bin_i|déf)] × WoE_i
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Grille IV :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&lt;0.02 Inutile | 0.02-0.10 Faible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0.10-0.30 Moyen | 0.30-0.50 Fort | &gt;0.50 Suspect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960120"/>
            <a:ext cx="402336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4632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Value par variable binnée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65760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Pouvoir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Revenu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73E1D"/>
                          </a:solidFill>
                        </a:rPr>
                        <a:t>10.6944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73E1D"/>
                          </a:solidFill>
                        </a:rPr>
                        <a:t>Suspect (&gt;0.5)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Endettement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73E1D"/>
                          </a:solidFill>
                        </a:rPr>
                        <a:t>2.7495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73E1D"/>
                          </a:solidFill>
                        </a:rPr>
                        <a:t>Suspect (&gt;0.5)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Âge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0.0139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Inutile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Ancienneté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0.0110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Inutile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— Protocole et résultats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 en 5 phases :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Split stratifié 80/20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StandardScaler (fit train uniquement)
</a:t>
            </a: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SMOTE : 2400 → 3333 (ratio 0.5)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StratifiedKFold 5 folds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GridSearchCV par algorithme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6012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Random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0.992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0.946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0.997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SVM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0.973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0.733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0.846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0.996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Rég. Logistique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0.972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0.955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0.832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0.996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Arbre Décision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0.977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0.955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0.857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0.985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832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E8F8F5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429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Meilleur : Random Forest — AUC=0.9971 | Recall=100% | F1=0.946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731520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Matrices de confusion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611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Matrices de confusion des 4 modèles sur l'ensemble de test (600 observations)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E8F8F5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: 551 VN | 44 VP | 5 FP | 0 FN → Aucun défaut manqué 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Courbes ROC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60120"/>
            <a:ext cx="64008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Courbes ROC comparatives — AUC synthétise la capacité discriminante (1.0 = parfait, 0.5 = hasard)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 de Kolmogorov-Smirnov (KS)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 = max |F_non-déf(t) - F_déf(t)|
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 bancaire :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&lt;0.20 Inutilisable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0.20-0.40 Acceptable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0.40-0.75 Bon/Très bon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&gt;0.75 Excellent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960120"/>
            <a:ext cx="493776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des scores et KS du Random Forest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E8F8F5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4251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: KS = 0.9928 → EXCEPTIONNEL (seuil excellence &gt; 0.75)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Courbes Lift et Gain cumulatif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82296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cumulatif (gauche) et Lift (droite)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ciblant les 15% les plus risqués → 100% des défauts capturés | Lift &gt; 10× dans le 1er décile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— Théorie des valeurs de Shapley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Fondement : Théorie des jeux coopératifs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(Lloyd Shapley, Prix Nobel 2012)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φ_j = Σ_S⊆F\{j} [|S|!(|F|-|S|-1)!/|F|!]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× [f(S ∪ {j}) - f(S)]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feature reçoit sa contribution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marginale équitable à travers toutes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coalitions possibles.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96012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 garanties :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Efficacité
   Σ φ_j = f(x) - E[f(x)]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Symétrie
   Contributions identiques → φ identiques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Null player
   Aucun impact → φ = 0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Additivité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Combinaison linéaire de sous-modèles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— Summary Plot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60120"/>
            <a:ext cx="64008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de chaque variable — couleur = valeur (rouge=élevé, bleu=faible)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— Interprétation métier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365760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97680" y="9601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43484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revenu_mensuel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434840" y="12527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SHAP: 0.133 | ↓ rev → ↑ risque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583680" y="1005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facteur protecteur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3484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ratio_credit_revenu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434840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SHAP: 0.080 | ↑ ratio → ↑ risque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8368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 disproportionné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23317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4348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ratio_dette_revenu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34840" y="2624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SHAP: 0.061 | ↑ ratio → ↑ risque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8368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Endettement existant élevé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97680" y="30175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3484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score_stabilite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434840" y="33101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SHAP: 0.044 | ↓ score → ↑ risque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58368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Instabilité pro/financière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97680" y="3703320"/>
            <a:ext cx="4572000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43484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ratio_endettement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34840" y="3995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SHAP: 0.036 | ↑ ratio → ↑ risque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8368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endettement élevé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— Méthode PDO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0200" y="1536199"/>
            <a:ext cx="3803650" cy="1410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Dérivation mathématique :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Odds = (1-p) / 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Offset + Factor × ln(Odds)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= PDO / ln(2)
       = 20 / 0.693 = 28.85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= Base - Factor × ln(BaseOdds)
       = 600 - 28.85 × ln(50) = 487.12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487.12 + 28.85 × ln((1-p)/p)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960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0" y="10424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42316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base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971802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0441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 = 20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241884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 Double Odds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980948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06527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139382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991741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00736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487.12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241884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Offset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3406141"/>
            <a:ext cx="8229600" cy="15316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et politique de décision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804672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41148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défaut par segment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754880" y="960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8F8F5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9204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FAIBLE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92040" y="1307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650-999 | 74.8% clients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92040" y="1527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Défaut: 0.0%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40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408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standard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20116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EF5E7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920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MODÉRÉ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2040" y="2359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550-650 | 11.0% clients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92040" y="2578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Défaut: 0.0%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408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CONDITIONNEL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4088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Garanties + taux majoré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30632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/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9204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ÉLEVÉ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92040" y="3410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0-550 | 14.2% clients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92040" y="3630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Défaut: 51.8%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04088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3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04088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approfondie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scoring sépare parfaitement les bons payeurs (0% défaut) des mauvais (51.8%)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et perspectives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exhaustive : ratio_endettement (r=0.674) et revenu (r=-0.442)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IV revenu = 10.69 ≫ 0.5 : le revenu seul donne déjà AUC = 0.984 (données synthétiques)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sélectionné : AUC=0.9971, KS=0.9928, Recall=100%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ratios financiers dérivés validés par SHAP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: interprétabilité complète, conformité réglementaire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PDO opérationnelle avec politique en 3 segments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2743200" cy="0"/>
          </a:xfrm>
          <a:prstGeom prst="line">
            <a:avLst/>
          </a:prstGeom>
          <a:noFill/>
          <a:ln w="25400">
            <a:solidFill>
              <a:srgbClr val="F18F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: </a:t>
            </a:r>
            <a:r>
              <a:rPr lang="en-US" sz="1100" dirty="0">
                <a:solidFill>
                  <a:srgbClr val="90B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API REST, monitoring drift, données comportementales, XGBoost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47091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6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1525</Words>
  <Application>Microsoft Office PowerPoint</Application>
  <PresentationFormat>Affichage à l'écran (16:9)</PresentationFormat>
  <Paragraphs>321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Scoring Crédit Bancaire</dc:title>
  <dc:subject>PptxGenJS Presentation</dc:subject>
  <dc:creator>Marouane Boutayeb</dc:creator>
  <cp:lastModifiedBy>Marouane Boutayeb</cp:lastModifiedBy>
  <cp:revision>5</cp:revision>
  <dcterms:created xsi:type="dcterms:W3CDTF">2026-06-09T17:22:18Z</dcterms:created>
  <dcterms:modified xsi:type="dcterms:W3CDTF">2026-06-09T20:37:21Z</dcterms:modified>
</cp:coreProperties>
</file>